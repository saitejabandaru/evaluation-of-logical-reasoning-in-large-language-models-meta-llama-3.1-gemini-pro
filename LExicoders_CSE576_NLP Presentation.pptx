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Roboto Slab"/>
      <p:regular r:id="rId30"/>
      <p:bold r:id="rId31"/>
    </p:embeddedFont>
    <p:embeddedFont>
      <p:font typeface="Robo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45C6B7-3EDB-4237-B5B4-EBFD8D53FF5C}">
  <a:tblStyle styleId="{9045C6B7-3EDB-4237-B5B4-EBFD8D53FF5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Slab-bold.fntdata"/><Relationship Id="rId30" Type="http://schemas.openxmlformats.org/officeDocument/2006/relationships/font" Target="fonts/RobotoSlab-regular.fntdata"/><Relationship Id="rId11" Type="http://schemas.openxmlformats.org/officeDocument/2006/relationships/slide" Target="slides/slide5.xml"/><Relationship Id="rId33" Type="http://schemas.openxmlformats.org/officeDocument/2006/relationships/font" Target="fonts/Roboto-bold.fntdata"/><Relationship Id="rId10" Type="http://schemas.openxmlformats.org/officeDocument/2006/relationships/slide" Target="slides/slide4.xml"/><Relationship Id="rId32" Type="http://schemas.openxmlformats.org/officeDocument/2006/relationships/font" Target="fonts/Roboto-regular.fntdata"/><Relationship Id="rId13" Type="http://schemas.openxmlformats.org/officeDocument/2006/relationships/slide" Target="slides/slide7.xml"/><Relationship Id="rId35" Type="http://schemas.openxmlformats.org/officeDocument/2006/relationships/font" Target="fonts/Roboto-boldItalic.fntdata"/><Relationship Id="rId12" Type="http://schemas.openxmlformats.org/officeDocument/2006/relationships/slide" Target="slides/slide6.xml"/><Relationship Id="rId34" Type="http://schemas.openxmlformats.org/officeDocument/2006/relationships/font" Target="fonts/Roboto-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c6f75fc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c6f75fc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c6f75fce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c6f75fce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6f75fce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6f75fce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1dd8b050f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1dd8b050f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1dd8b050fe_0_9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1dd8b050fe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1df148a43d_0_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1df148a43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1dd8b050f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1dd8b050f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1dd8b050f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1dd8b050f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1dd8b050f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1dd8b050f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1dd8b050f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1dd8b050f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dd8b050f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1dd8b050f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1dd8b050f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1dd8b050f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1dd8b050fe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1dd8b050fe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1dd8b050f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1dd8b050f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1dd8b050f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1dd8b050f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1dd8b050f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1dd8b050f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1dd8b050f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1dd8b050f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1dd8b050fe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1dd8b050fe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1e40bba4d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1e40bba4d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dd8b050f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1dd8b050f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1dd8b050fe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1dd8b050f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c6f75fce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c6f75fce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1dd8b050f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1dd8b050f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Natural Language Processing</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Project Presentation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100"/>
              <a:buNone/>
            </a:pPr>
            <a:r>
              <a:rPr lang="en"/>
              <a:t>Team Members: </a:t>
            </a:r>
            <a:endParaRPr/>
          </a:p>
          <a:p>
            <a:pPr indent="0" lvl="0" marL="0" rtl="0" algn="l">
              <a:spcBef>
                <a:spcPts val="1600"/>
              </a:spcBef>
              <a:spcAft>
                <a:spcPts val="0"/>
              </a:spcAft>
              <a:buNone/>
            </a:pPr>
            <a:r>
              <a:rPr lang="en"/>
              <a:t>Atharva Chundurwar</a:t>
            </a:r>
            <a:endParaRPr/>
          </a:p>
          <a:p>
            <a:pPr indent="0" lvl="0" marL="0" rtl="0" algn="l">
              <a:spcBef>
                <a:spcPts val="1600"/>
              </a:spcBef>
              <a:spcAft>
                <a:spcPts val="0"/>
              </a:spcAft>
              <a:buNone/>
            </a:pPr>
            <a:r>
              <a:rPr lang="en"/>
              <a:t>Sai Teja Bandaru</a:t>
            </a:r>
            <a:endParaRPr/>
          </a:p>
          <a:p>
            <a:pPr indent="0" lvl="0" marL="0" rtl="0" algn="l">
              <a:spcBef>
                <a:spcPts val="1600"/>
              </a:spcBef>
              <a:spcAft>
                <a:spcPts val="0"/>
              </a:spcAft>
              <a:buNone/>
            </a:pPr>
            <a:r>
              <a:rPr lang="en"/>
              <a:t>Bhaskar Bose</a:t>
            </a:r>
            <a:endParaRPr/>
          </a:p>
          <a:p>
            <a:pPr indent="0" lvl="0" marL="0" rtl="0" algn="l">
              <a:spcBef>
                <a:spcPts val="1600"/>
              </a:spcBef>
              <a:spcAft>
                <a:spcPts val="0"/>
              </a:spcAft>
              <a:buNone/>
            </a:pPr>
            <a:r>
              <a:rPr lang="en"/>
              <a:t>Dhruv Rakeshkumar Prajapati</a:t>
            </a:r>
            <a:endParaRPr/>
          </a:p>
          <a:p>
            <a:pPr indent="0" lvl="0" marL="0" rtl="0" algn="l">
              <a:spcBef>
                <a:spcPts val="1600"/>
              </a:spcBef>
              <a:spcAft>
                <a:spcPts val="1600"/>
              </a:spcAft>
              <a:buNone/>
            </a:pPr>
            <a:r>
              <a:rPr lang="en"/>
              <a:t>Tejas Ajay Parse</a:t>
            </a:r>
            <a:endParaRPr/>
          </a:p>
        </p:txBody>
      </p:sp>
      <p:sp>
        <p:nvSpPr>
          <p:cNvPr id="70" name="Google Shape;70;p14"/>
          <p:cNvSpPr txBox="1"/>
          <p:nvPr>
            <p:ph type="title"/>
          </p:nvPr>
        </p:nvSpPr>
        <p:spPr>
          <a:xfrm>
            <a:off x="265500" y="1912650"/>
            <a:ext cx="4045200" cy="131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Our Team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300"/>
              <a:t>Problem Statement</a:t>
            </a:r>
            <a:endParaRPr sz="3300"/>
          </a:p>
        </p:txBody>
      </p:sp>
      <p:sp>
        <p:nvSpPr>
          <p:cNvPr id="76" name="Google Shape;76;p15"/>
          <p:cNvSpPr txBox="1"/>
          <p:nvPr>
            <p:ph idx="1" type="body"/>
          </p:nvPr>
        </p:nvSpPr>
        <p:spPr>
          <a:xfrm>
            <a:off x="290850" y="1821399"/>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a:latin typeface="Arial"/>
                <a:ea typeface="Arial"/>
                <a:cs typeface="Arial"/>
                <a:sym typeface="Arial"/>
              </a:rPr>
              <a:t>As large language models (LLMs) become increasingly integrated into complex problem-solving tasks, ensuring the quality of their reasoning chains is critical for reliable outputs. Existing evaluation methods often overlook the need for in-depth analysis of how reasoning steps are constructed. The proposed system aims to automatically evaluate reasoning chains generated by LLMs by categorizing them into broad and sub-level error types based on a custom error taxonomy. These errors may include wrong reasoning, wrong assumptions, contradiction, hallucination or more. The goal is to assess the overall structure and quality of the reasoning process. By classifying errors and providing actionable insights, the system will offer a robust framework for evaluating and improving the reasoning capabilities of LLMs, helping to identify and rectify flawed inference patterns in AI-generated responses.</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300"/>
              <a:t>Background Work</a:t>
            </a:r>
            <a:endParaRPr sz="3300"/>
          </a:p>
        </p:txBody>
      </p:sp>
      <p:sp>
        <p:nvSpPr>
          <p:cNvPr id="82" name="Google Shape;82;p16"/>
          <p:cNvSpPr txBox="1"/>
          <p:nvPr>
            <p:ph idx="1" type="body"/>
          </p:nvPr>
        </p:nvSpPr>
        <p:spPr>
          <a:xfrm>
            <a:off x="387900" y="1860949"/>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Arial"/>
                <a:ea typeface="Arial"/>
                <a:cs typeface="Arial"/>
                <a:sym typeface="Arial"/>
              </a:rPr>
              <a:t>The background work </a:t>
            </a:r>
            <a:r>
              <a:rPr lang="en" sz="1400">
                <a:latin typeface="Arial"/>
                <a:ea typeface="Arial"/>
                <a:cs typeface="Arial"/>
                <a:sym typeface="Arial"/>
              </a:rPr>
              <a:t>involves</a:t>
            </a:r>
            <a:r>
              <a:rPr lang="en" sz="1400">
                <a:latin typeface="Arial"/>
                <a:ea typeface="Arial"/>
                <a:cs typeface="Arial"/>
                <a:sym typeface="Arial"/>
              </a:rPr>
              <a:t> thorough research of 3 main research papers which aid us with designing the error taxonomy and the auto-evaluator model. The </a:t>
            </a:r>
            <a:r>
              <a:rPr lang="en" sz="1400">
                <a:latin typeface="Arial"/>
                <a:ea typeface="Arial"/>
                <a:cs typeface="Arial"/>
                <a:sym typeface="Arial"/>
              </a:rPr>
              <a:t>research</a:t>
            </a:r>
            <a:r>
              <a:rPr lang="en" sz="1400">
                <a:latin typeface="Arial"/>
                <a:ea typeface="Arial"/>
                <a:cs typeface="Arial"/>
                <a:sym typeface="Arial"/>
              </a:rPr>
              <a:t> papers we went through were:</a:t>
            </a:r>
            <a:endParaRPr sz="1400">
              <a:latin typeface="Arial"/>
              <a:ea typeface="Arial"/>
              <a:cs typeface="Arial"/>
              <a:sym typeface="Arial"/>
            </a:endParaRPr>
          </a:p>
          <a:p>
            <a:pPr indent="-317500" lvl="0" marL="457200" rtl="0" algn="l">
              <a:spcBef>
                <a:spcPts val="1600"/>
              </a:spcBef>
              <a:spcAft>
                <a:spcPts val="0"/>
              </a:spcAft>
              <a:buSzPts val="1400"/>
              <a:buFont typeface="Arial"/>
              <a:buChar char="❖"/>
            </a:pPr>
            <a:r>
              <a:rPr lang="en" sz="1400">
                <a:latin typeface="Arial"/>
                <a:ea typeface="Arial"/>
                <a:cs typeface="Arial"/>
                <a:sym typeface="Arial"/>
              </a:rPr>
              <a:t>LogiQA: A Challenge Dataset for Machine Reading Comprehension with Logical Reasoning [1]</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The Argument Reasoning Comprehension Task: Identification and Reconstruction of Implicit Warrants [2]</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Step-by-Step Reasoning to Solve Grid Puzzles: Where do LLMs Falter? [3]</a:t>
            </a:r>
            <a:endParaRPr sz="1400">
              <a:latin typeface="Arial"/>
              <a:ea typeface="Arial"/>
              <a:cs typeface="Arial"/>
              <a:sym typeface="Arial"/>
            </a:endParaRPr>
          </a:p>
          <a:p>
            <a:pPr indent="0" lvl="0" marL="0" rtl="0" algn="l">
              <a:spcBef>
                <a:spcPts val="1600"/>
              </a:spcBef>
              <a:spcAft>
                <a:spcPts val="1600"/>
              </a:spcAft>
              <a:buNone/>
            </a:pPr>
            <a:r>
              <a:t/>
            </a:r>
            <a:endParaRPr sz="14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idx="4294967295"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Datasets Analyzed</a:t>
            </a:r>
            <a:endParaRPr/>
          </a:p>
        </p:txBody>
      </p:sp>
      <p:sp>
        <p:nvSpPr>
          <p:cNvPr id="88" name="Google Shape;88;p17"/>
          <p:cNvSpPr txBox="1"/>
          <p:nvPr>
            <p:ph idx="4294967295" type="body"/>
          </p:nvPr>
        </p:nvSpPr>
        <p:spPr>
          <a:xfrm>
            <a:off x="311700" y="1195201"/>
            <a:ext cx="3853200" cy="524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400">
                <a:solidFill>
                  <a:schemeClr val="accent5"/>
                </a:solidFill>
              </a:rPr>
              <a:t>ARCT</a:t>
            </a:r>
            <a:endParaRPr sz="2400">
              <a:solidFill>
                <a:schemeClr val="accent5"/>
              </a:solidFill>
            </a:endParaRPr>
          </a:p>
        </p:txBody>
      </p:sp>
      <p:cxnSp>
        <p:nvCxnSpPr>
          <p:cNvPr id="89" name="Google Shape;89;p17"/>
          <p:cNvCxnSpPr/>
          <p:nvPr/>
        </p:nvCxnSpPr>
        <p:spPr>
          <a:xfrm>
            <a:off x="418675" y="1811883"/>
            <a:ext cx="270900" cy="0"/>
          </a:xfrm>
          <a:prstGeom prst="straightConnector1">
            <a:avLst/>
          </a:prstGeom>
          <a:noFill/>
          <a:ln cap="flat" cmpd="sng" w="9525">
            <a:solidFill>
              <a:schemeClr val="lt2"/>
            </a:solidFill>
            <a:prstDash val="solid"/>
            <a:round/>
            <a:headEnd len="sm" w="sm" type="none"/>
            <a:tailEnd len="sm" w="sm" type="none"/>
          </a:ln>
        </p:spPr>
      </p:cxnSp>
      <p:sp>
        <p:nvSpPr>
          <p:cNvPr id="90" name="Google Shape;90;p17"/>
          <p:cNvSpPr txBox="1"/>
          <p:nvPr>
            <p:ph idx="4294967295" type="body"/>
          </p:nvPr>
        </p:nvSpPr>
        <p:spPr>
          <a:xfrm>
            <a:off x="311700" y="1916330"/>
            <a:ext cx="3853200" cy="2753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a:t>The Argument Reasoning Comprehension Task (ARCT) dataset focuses on identifying and reconstructing implicit warrants that connect claims and premises in natural language arguments. It contains 1,200 examples to evaluate models' ability to comprehend and reason about underlying logical connections</a:t>
            </a:r>
            <a:r>
              <a:rPr lang="en" sz="1400"/>
              <a:t>.</a:t>
            </a:r>
            <a:endParaRPr sz="1400"/>
          </a:p>
        </p:txBody>
      </p:sp>
      <p:sp>
        <p:nvSpPr>
          <p:cNvPr id="91" name="Google Shape;91;p17"/>
          <p:cNvSpPr txBox="1"/>
          <p:nvPr>
            <p:ph idx="4294967295" type="body"/>
          </p:nvPr>
        </p:nvSpPr>
        <p:spPr>
          <a:xfrm>
            <a:off x="4905750" y="1201619"/>
            <a:ext cx="3853200" cy="524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400">
                <a:solidFill>
                  <a:schemeClr val="accent5"/>
                </a:solidFill>
              </a:rPr>
              <a:t>LogiQA</a:t>
            </a:r>
            <a:endParaRPr sz="2400">
              <a:solidFill>
                <a:schemeClr val="accent5"/>
              </a:solidFill>
            </a:endParaRPr>
          </a:p>
        </p:txBody>
      </p:sp>
      <p:cxnSp>
        <p:nvCxnSpPr>
          <p:cNvPr id="92" name="Google Shape;92;p17"/>
          <p:cNvCxnSpPr/>
          <p:nvPr/>
        </p:nvCxnSpPr>
        <p:spPr>
          <a:xfrm>
            <a:off x="5012725" y="1811883"/>
            <a:ext cx="270900" cy="0"/>
          </a:xfrm>
          <a:prstGeom prst="straightConnector1">
            <a:avLst/>
          </a:prstGeom>
          <a:noFill/>
          <a:ln cap="flat" cmpd="sng" w="9525">
            <a:solidFill>
              <a:schemeClr val="lt2"/>
            </a:solidFill>
            <a:prstDash val="solid"/>
            <a:round/>
            <a:headEnd len="sm" w="sm" type="none"/>
            <a:tailEnd len="sm" w="sm" type="none"/>
          </a:ln>
        </p:spPr>
      </p:cxnSp>
      <p:sp>
        <p:nvSpPr>
          <p:cNvPr id="93" name="Google Shape;93;p17"/>
          <p:cNvSpPr txBox="1"/>
          <p:nvPr>
            <p:ph idx="4294967295" type="body"/>
          </p:nvPr>
        </p:nvSpPr>
        <p:spPr>
          <a:xfrm>
            <a:off x="4905750" y="1916330"/>
            <a:ext cx="3853200" cy="2753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a:t>The LogiQA dataset is a machine reading comprehension benchmark designed to test logical reasoning abilities using 8,678 expert-crafted QA pairs. It evaluates deductive reasoning across various logical forms, highlighting a significant gap between human performance and state-of-the-art neural models.</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idx="4294967295"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Models Utilized</a:t>
            </a:r>
            <a:endParaRPr/>
          </a:p>
        </p:txBody>
      </p:sp>
      <p:sp>
        <p:nvSpPr>
          <p:cNvPr id="99" name="Google Shape;99;p18"/>
          <p:cNvSpPr txBox="1"/>
          <p:nvPr>
            <p:ph idx="4294967295" type="body"/>
          </p:nvPr>
        </p:nvSpPr>
        <p:spPr>
          <a:xfrm>
            <a:off x="311700" y="1195201"/>
            <a:ext cx="3853200" cy="524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400">
                <a:solidFill>
                  <a:schemeClr val="accent5"/>
                </a:solidFill>
              </a:rPr>
              <a:t>LLAMA</a:t>
            </a:r>
            <a:endParaRPr sz="2400">
              <a:solidFill>
                <a:schemeClr val="accent5"/>
              </a:solidFill>
            </a:endParaRPr>
          </a:p>
        </p:txBody>
      </p:sp>
      <p:cxnSp>
        <p:nvCxnSpPr>
          <p:cNvPr id="100" name="Google Shape;100;p18"/>
          <p:cNvCxnSpPr/>
          <p:nvPr/>
        </p:nvCxnSpPr>
        <p:spPr>
          <a:xfrm>
            <a:off x="418675" y="1811883"/>
            <a:ext cx="270900" cy="0"/>
          </a:xfrm>
          <a:prstGeom prst="straightConnector1">
            <a:avLst/>
          </a:prstGeom>
          <a:noFill/>
          <a:ln cap="flat" cmpd="sng" w="9525">
            <a:solidFill>
              <a:schemeClr val="lt2"/>
            </a:solidFill>
            <a:prstDash val="solid"/>
            <a:round/>
            <a:headEnd len="sm" w="sm" type="none"/>
            <a:tailEnd len="sm" w="sm" type="none"/>
          </a:ln>
        </p:spPr>
      </p:cxnSp>
      <p:sp>
        <p:nvSpPr>
          <p:cNvPr id="101" name="Google Shape;101;p18"/>
          <p:cNvSpPr txBox="1"/>
          <p:nvPr>
            <p:ph idx="4294967295" type="body"/>
          </p:nvPr>
        </p:nvSpPr>
        <p:spPr>
          <a:xfrm>
            <a:off x="311700" y="1916330"/>
            <a:ext cx="3853200" cy="275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LLaMA (Large Language Model Meta AI) is an open-source language model developed by Meta, designed for efficient performance in a wide range of NLP tasks with a focus on research and accessibility.</a:t>
            </a:r>
            <a:endParaRPr sz="1400"/>
          </a:p>
          <a:p>
            <a:pPr indent="0" lvl="0" marL="0" rtl="0" algn="l">
              <a:spcBef>
                <a:spcPts val="1600"/>
              </a:spcBef>
              <a:spcAft>
                <a:spcPts val="1600"/>
              </a:spcAft>
              <a:buNone/>
            </a:pPr>
            <a:r>
              <a:rPr lang="en" sz="1400"/>
              <a:t>We have used “Llama 3-70B” for this project.</a:t>
            </a:r>
            <a:endParaRPr sz="1400"/>
          </a:p>
        </p:txBody>
      </p:sp>
      <p:sp>
        <p:nvSpPr>
          <p:cNvPr id="102" name="Google Shape;102;p18"/>
          <p:cNvSpPr txBox="1"/>
          <p:nvPr>
            <p:ph idx="4294967295" type="body"/>
          </p:nvPr>
        </p:nvSpPr>
        <p:spPr>
          <a:xfrm>
            <a:off x="4905750" y="1201619"/>
            <a:ext cx="3853200" cy="524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400">
                <a:solidFill>
                  <a:schemeClr val="accent5"/>
                </a:solidFill>
              </a:rPr>
              <a:t>Gemini</a:t>
            </a:r>
            <a:endParaRPr sz="2400">
              <a:solidFill>
                <a:schemeClr val="accent5"/>
              </a:solidFill>
            </a:endParaRPr>
          </a:p>
        </p:txBody>
      </p:sp>
      <p:cxnSp>
        <p:nvCxnSpPr>
          <p:cNvPr id="103" name="Google Shape;103;p18"/>
          <p:cNvCxnSpPr/>
          <p:nvPr/>
        </p:nvCxnSpPr>
        <p:spPr>
          <a:xfrm>
            <a:off x="5012725" y="1811883"/>
            <a:ext cx="270900" cy="0"/>
          </a:xfrm>
          <a:prstGeom prst="straightConnector1">
            <a:avLst/>
          </a:prstGeom>
          <a:noFill/>
          <a:ln cap="flat" cmpd="sng" w="9525">
            <a:solidFill>
              <a:schemeClr val="lt2"/>
            </a:solidFill>
            <a:prstDash val="solid"/>
            <a:round/>
            <a:headEnd len="sm" w="sm" type="none"/>
            <a:tailEnd len="sm" w="sm" type="none"/>
          </a:ln>
        </p:spPr>
      </p:cxnSp>
      <p:sp>
        <p:nvSpPr>
          <p:cNvPr id="104" name="Google Shape;104;p18"/>
          <p:cNvSpPr txBox="1"/>
          <p:nvPr>
            <p:ph idx="4294967295" type="body"/>
          </p:nvPr>
        </p:nvSpPr>
        <p:spPr>
          <a:xfrm>
            <a:off x="4905750" y="1916330"/>
            <a:ext cx="3853200" cy="275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Gemini is a closed-source large language model developed by Google, known for its advanced capabilities in natural language understanding and generation.</a:t>
            </a:r>
            <a:endParaRPr sz="1400"/>
          </a:p>
          <a:p>
            <a:pPr indent="0" lvl="0" marL="0" rtl="0" algn="l">
              <a:spcBef>
                <a:spcPts val="1600"/>
              </a:spcBef>
              <a:spcAft>
                <a:spcPts val="1600"/>
              </a:spcAft>
              <a:buNone/>
            </a:pPr>
            <a:r>
              <a:rPr lang="en" sz="1400"/>
              <a:t>We have used “gemini-1.5-pro 002” for this project.</a:t>
            </a:r>
            <a:endParaRPr sz="1400"/>
          </a:p>
        </p:txBody>
      </p:sp>
      <p:pic>
        <p:nvPicPr>
          <p:cNvPr id="105" name="Google Shape;105;p18"/>
          <p:cNvPicPr preferRelativeResize="0"/>
          <p:nvPr/>
        </p:nvPicPr>
        <p:blipFill>
          <a:blip r:embed="rId3">
            <a:alphaModFix/>
          </a:blip>
          <a:stretch>
            <a:fillRect/>
          </a:stretch>
        </p:blipFill>
        <p:spPr>
          <a:xfrm>
            <a:off x="6124150" y="1271399"/>
            <a:ext cx="847227" cy="313150"/>
          </a:xfrm>
          <a:prstGeom prst="rect">
            <a:avLst/>
          </a:prstGeom>
          <a:noFill/>
          <a:ln>
            <a:noFill/>
          </a:ln>
        </p:spPr>
      </p:pic>
      <p:pic>
        <p:nvPicPr>
          <p:cNvPr id="106" name="Google Shape;106;p18"/>
          <p:cNvPicPr preferRelativeResize="0"/>
          <p:nvPr/>
        </p:nvPicPr>
        <p:blipFill>
          <a:blip r:embed="rId4">
            <a:alphaModFix/>
          </a:blip>
          <a:stretch>
            <a:fillRect/>
          </a:stretch>
        </p:blipFill>
        <p:spPr>
          <a:xfrm>
            <a:off x="1581750" y="1215203"/>
            <a:ext cx="932262" cy="5244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a:t>
            </a:r>
            <a:endParaRPr/>
          </a:p>
        </p:txBody>
      </p:sp>
      <p:sp>
        <p:nvSpPr>
          <p:cNvPr id="112" name="Google Shape;112;p19"/>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Arial"/>
                <a:ea typeface="Arial"/>
                <a:cs typeface="Arial"/>
                <a:sym typeface="Arial"/>
              </a:rPr>
              <a:t>First we used LLama 3-70B and Gemini-1.5 pro 002 to generate reasoning chains based on the ARCT and LogiQA datasets, then we proceeded with manually analysing the reasoning chains to see where the LLMs falter and what type of errors they make while analysing the chains. To our surprise many of the reasoning chains they analysed were incorrect which lead to an incorrect conclusion i.e. the model predicting a wrong output. </a:t>
            </a:r>
            <a:endParaRPr sz="1400">
              <a:latin typeface="Arial"/>
              <a:ea typeface="Arial"/>
              <a:cs typeface="Arial"/>
              <a:sym typeface="Arial"/>
            </a:endParaRPr>
          </a:p>
          <a:p>
            <a:pPr indent="0" lvl="0" marL="0" rtl="0" algn="l">
              <a:spcBef>
                <a:spcPts val="1600"/>
              </a:spcBef>
              <a:spcAft>
                <a:spcPts val="1600"/>
              </a:spcAft>
              <a:buNone/>
            </a:pPr>
            <a:r>
              <a:rPr lang="en" sz="1400">
                <a:latin typeface="Arial"/>
                <a:ea typeface="Arial"/>
                <a:cs typeface="Arial"/>
                <a:sym typeface="Arial"/>
              </a:rPr>
              <a:t>We aimed at finding the steps where the LLMs go wrong and classify the sentences into proper error taxonomies just like a human being would evaluate it. </a:t>
            </a:r>
            <a:endParaRPr sz="14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Initial Accuracies </a:t>
            </a:r>
            <a:endParaRPr/>
          </a:p>
        </p:txBody>
      </p:sp>
      <p:graphicFrame>
        <p:nvGraphicFramePr>
          <p:cNvPr id="118" name="Google Shape;118;p20"/>
          <p:cNvGraphicFramePr/>
          <p:nvPr/>
        </p:nvGraphicFramePr>
        <p:xfrm>
          <a:off x="952500" y="2057950"/>
          <a:ext cx="3000000" cy="3000000"/>
        </p:xfrm>
        <a:graphic>
          <a:graphicData uri="http://schemas.openxmlformats.org/drawingml/2006/table">
            <a:tbl>
              <a:tblPr>
                <a:noFill/>
                <a:tableStyleId>{9045C6B7-3EDB-4237-B5B4-EBFD8D53FF5C}</a:tableStyleId>
              </a:tblPr>
              <a:tblGrid>
                <a:gridCol w="2413000"/>
                <a:gridCol w="2413000"/>
                <a:gridCol w="2413000"/>
              </a:tblGrid>
              <a:tr h="381000">
                <a:tc>
                  <a:txBody>
                    <a:bodyPr/>
                    <a:lstStyle/>
                    <a:p>
                      <a:pPr indent="0" lvl="0" marL="0" rtl="0" algn="l">
                        <a:spcBef>
                          <a:spcPts val="0"/>
                        </a:spcBef>
                        <a:spcAft>
                          <a:spcPts val="0"/>
                        </a:spcAft>
                        <a:buNone/>
                      </a:pPr>
                      <a:r>
                        <a:rPr lang="en">
                          <a:solidFill>
                            <a:schemeClr val="dk1"/>
                          </a:solidFill>
                        </a:rPr>
                        <a:t>Dataset \ </a:t>
                      </a:r>
                      <a:r>
                        <a:rPr lang="en">
                          <a:solidFill>
                            <a:schemeClr val="dk1"/>
                          </a:solidFill>
                        </a:rPr>
                        <a:t>Models</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Llama-3</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Gemini</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Accuracy (LogiQA)</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31.34%</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61.14%</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Accuracy (ARCT)</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54.28%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85.14%</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Initial Results Analysis</a:t>
            </a:r>
            <a:endParaRPr/>
          </a:p>
        </p:txBody>
      </p:sp>
      <p:sp>
        <p:nvSpPr>
          <p:cNvPr id="124" name="Google Shape;124;p21"/>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see here that the closed source model (Gemini) is giving a better performance on both datasets. Following this model evaluation, we select correct and incorrect samples and develop a common error taxonomy by manually evaluating the reasoning chains.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on Finding Taxonomies</a:t>
            </a:r>
            <a:endParaRPr/>
          </a:p>
        </p:txBody>
      </p:sp>
      <p:sp>
        <p:nvSpPr>
          <p:cNvPr id="130" name="Google Shape;130;p22"/>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manually evaluated two datasets (LogiQA and ARCT), by considering 10 reasoning chain samples each(5 correct predictions and 5 incorrect predictions), and documented the common issues in the reasoning chains outputted by the LLMs. We then clustered these issues into five broad categories: Right Premise, Right Conclusion; Right Premise, Wrong Conclusion; Wrong Premise, Right Conclusion; Wrong Premise, Wrong Conclusion; and No Conclusion. </a:t>
            </a:r>
            <a:endParaRPr/>
          </a:p>
          <a:p>
            <a:pPr indent="0" lvl="0" marL="0" rtl="0" algn="l">
              <a:spcBef>
                <a:spcPts val="1600"/>
              </a:spcBef>
              <a:spcAft>
                <a:spcPts val="1600"/>
              </a:spcAft>
              <a:buNone/>
            </a:pPr>
            <a:r>
              <a:rPr lang="en"/>
              <a:t>Following</a:t>
            </a:r>
            <a:r>
              <a:rPr lang="en"/>
              <a:t> this, we defined multiple subcategories for both wrong premises and wrong conclusions, which will be presented in the following slides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Screenshot of Manually Analyzed Chain</a:t>
            </a:r>
            <a:endParaRPr/>
          </a:p>
        </p:txBody>
      </p:sp>
      <p:sp>
        <p:nvSpPr>
          <p:cNvPr id="136" name="Google Shape;136;p23"/>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Text Here</a:t>
            </a:r>
            <a:endParaRPr/>
          </a:p>
        </p:txBody>
      </p:sp>
      <p:pic>
        <p:nvPicPr>
          <p:cNvPr id="137" name="Google Shape;137;p23"/>
          <p:cNvPicPr preferRelativeResize="0"/>
          <p:nvPr/>
        </p:nvPicPr>
        <p:blipFill>
          <a:blip r:embed="rId3">
            <a:alphaModFix/>
          </a:blip>
          <a:stretch>
            <a:fillRect/>
          </a:stretch>
        </p:blipFill>
        <p:spPr>
          <a:xfrm>
            <a:off x="439225" y="1569675"/>
            <a:ext cx="4097626" cy="2199600"/>
          </a:xfrm>
          <a:prstGeom prst="rect">
            <a:avLst/>
          </a:prstGeom>
          <a:noFill/>
          <a:ln>
            <a:noFill/>
          </a:ln>
        </p:spPr>
      </p:pic>
      <p:pic>
        <p:nvPicPr>
          <p:cNvPr id="138" name="Google Shape;138;p23"/>
          <p:cNvPicPr preferRelativeResize="0"/>
          <p:nvPr/>
        </p:nvPicPr>
        <p:blipFill>
          <a:blip r:embed="rId4">
            <a:alphaModFix/>
          </a:blip>
          <a:stretch>
            <a:fillRect/>
          </a:stretch>
        </p:blipFill>
        <p:spPr>
          <a:xfrm>
            <a:off x="4970974" y="1107700"/>
            <a:ext cx="3622279" cy="3843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Error Taxonomies</a:t>
            </a:r>
            <a:endParaRPr/>
          </a:p>
        </p:txBody>
      </p:sp>
      <p:sp>
        <p:nvSpPr>
          <p:cNvPr id="144" name="Google Shape;144;p24"/>
          <p:cNvSpPr txBox="1"/>
          <p:nvPr>
            <p:ph idx="1" type="body"/>
          </p:nvPr>
        </p:nvSpPr>
        <p:spPr>
          <a:xfrm>
            <a:off x="387900" y="1650799"/>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Following are the Categories:</a:t>
            </a:r>
            <a:endParaRPr sz="1400"/>
          </a:p>
          <a:p>
            <a:pPr indent="-317500" lvl="0" marL="457200" rtl="0" algn="l">
              <a:spcBef>
                <a:spcPts val="1600"/>
              </a:spcBef>
              <a:spcAft>
                <a:spcPts val="0"/>
              </a:spcAft>
              <a:buSzPts val="1400"/>
              <a:buChar char="●"/>
            </a:pPr>
            <a:r>
              <a:rPr lang="en" sz="1400"/>
              <a:t>RR: Right Premise, Right Conclusion</a:t>
            </a:r>
            <a:endParaRPr sz="1400"/>
          </a:p>
          <a:p>
            <a:pPr indent="-317500" lvl="0" marL="457200" rtl="0" algn="l">
              <a:spcBef>
                <a:spcPts val="0"/>
              </a:spcBef>
              <a:spcAft>
                <a:spcPts val="0"/>
              </a:spcAft>
              <a:buSzPts val="1400"/>
              <a:buChar char="●"/>
            </a:pPr>
            <a:r>
              <a:rPr lang="en" sz="1400"/>
              <a:t>RW: Right Premise, Wrong Conclusion</a:t>
            </a:r>
            <a:endParaRPr sz="1400"/>
          </a:p>
          <a:p>
            <a:pPr indent="-317500" lvl="0" marL="457200" rtl="0" algn="l">
              <a:spcBef>
                <a:spcPts val="0"/>
              </a:spcBef>
              <a:spcAft>
                <a:spcPts val="0"/>
              </a:spcAft>
              <a:buSzPts val="1400"/>
              <a:buChar char="●"/>
            </a:pPr>
            <a:r>
              <a:rPr lang="en" sz="1400"/>
              <a:t>WR: Wrong Premise, Right Conclusion</a:t>
            </a:r>
            <a:endParaRPr sz="1400"/>
          </a:p>
          <a:p>
            <a:pPr indent="-317500" lvl="0" marL="457200" rtl="0" algn="l">
              <a:spcBef>
                <a:spcPts val="0"/>
              </a:spcBef>
              <a:spcAft>
                <a:spcPts val="0"/>
              </a:spcAft>
              <a:buSzPts val="1400"/>
              <a:buChar char="●"/>
            </a:pPr>
            <a:r>
              <a:rPr lang="en" sz="1400"/>
              <a:t>WW: Wrong Premise, Wrong Conclusion</a:t>
            </a:r>
            <a:endParaRPr sz="1400"/>
          </a:p>
          <a:p>
            <a:pPr indent="-317500" lvl="0" marL="457200" rtl="0" algn="l">
              <a:spcBef>
                <a:spcPts val="0"/>
              </a:spcBef>
              <a:spcAft>
                <a:spcPts val="0"/>
              </a:spcAft>
              <a:buSzPts val="1400"/>
              <a:buChar char="●"/>
            </a:pPr>
            <a:r>
              <a:rPr lang="en" sz="1400"/>
              <a:t>NC: No Conclusion: Sentences containing only information from Problem, options or premises from previous steps fall under this category.</a:t>
            </a:r>
            <a:endParaRPr sz="1400"/>
          </a:p>
          <a:p>
            <a:pPr indent="0" lvl="0" marL="457200" rtl="0" algn="l">
              <a:spcBef>
                <a:spcPts val="1600"/>
              </a:spcBef>
              <a:spcAft>
                <a:spcPts val="1600"/>
              </a:spcAft>
              <a:buNone/>
            </a:pPr>
            <a:br>
              <a:rPr lang="en" sz="1400"/>
            </a:b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Error Taxonomies</a:t>
            </a:r>
            <a:endParaRPr/>
          </a:p>
        </p:txBody>
      </p:sp>
      <p:sp>
        <p:nvSpPr>
          <p:cNvPr id="150" name="Google Shape;150;p25"/>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Arial"/>
                <a:ea typeface="Arial"/>
                <a:cs typeface="Arial"/>
                <a:sym typeface="Arial"/>
              </a:rPr>
              <a:t>Following are the Sub-Categories for Wrong Premise:</a:t>
            </a:r>
            <a:endParaRPr sz="1400">
              <a:latin typeface="Arial"/>
              <a:ea typeface="Arial"/>
              <a:cs typeface="Arial"/>
              <a:sym typeface="Arial"/>
            </a:endParaRPr>
          </a:p>
          <a:p>
            <a:pPr indent="-317500" lvl="0" marL="457200" rtl="0" algn="l">
              <a:spcBef>
                <a:spcPts val="1600"/>
              </a:spcBef>
              <a:spcAft>
                <a:spcPts val="0"/>
              </a:spcAft>
              <a:buSzPts val="1400"/>
              <a:buFont typeface="Arial"/>
              <a:buChar char="●"/>
            </a:pPr>
            <a:r>
              <a:rPr lang="en" sz="1400">
                <a:latin typeface="Arial"/>
                <a:ea typeface="Arial"/>
                <a:cs typeface="Arial"/>
                <a:sym typeface="Arial"/>
              </a:rPr>
              <a:t>Error propagation: Premise taken from previous wrong conclusion.</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Misinterpretation: Misinterpretation of passage, options or previously concluded steps in premise. </a:t>
            </a:r>
            <a:endParaRPr sz="1400">
              <a:latin typeface="Arial"/>
              <a:ea typeface="Arial"/>
              <a:cs typeface="Arial"/>
              <a:sym typeface="Arial"/>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Error Taxonomies</a:t>
            </a:r>
            <a:endParaRPr/>
          </a:p>
        </p:txBody>
      </p:sp>
      <p:sp>
        <p:nvSpPr>
          <p:cNvPr id="156" name="Google Shape;156;p26"/>
          <p:cNvSpPr txBox="1"/>
          <p:nvPr>
            <p:ph idx="1" type="body"/>
          </p:nvPr>
        </p:nvSpPr>
        <p:spPr>
          <a:xfrm>
            <a:off x="387900" y="1489826"/>
            <a:ext cx="8368200" cy="3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Arial"/>
                <a:ea typeface="Arial"/>
                <a:cs typeface="Arial"/>
                <a:sym typeface="Arial"/>
              </a:rPr>
              <a:t>Following are the </a:t>
            </a:r>
            <a:r>
              <a:rPr lang="en" sz="1400">
                <a:latin typeface="Arial"/>
                <a:ea typeface="Arial"/>
                <a:cs typeface="Arial"/>
                <a:sym typeface="Arial"/>
              </a:rPr>
              <a:t>Subcategories</a:t>
            </a:r>
            <a:r>
              <a:rPr lang="en" sz="1400">
                <a:latin typeface="Arial"/>
                <a:ea typeface="Arial"/>
                <a:cs typeface="Arial"/>
                <a:sym typeface="Arial"/>
              </a:rPr>
              <a:t> for Wrong Conclusion:</a:t>
            </a:r>
            <a:endParaRPr sz="1400">
              <a:latin typeface="Arial"/>
              <a:ea typeface="Arial"/>
              <a:cs typeface="Arial"/>
              <a:sym typeface="Arial"/>
            </a:endParaRPr>
          </a:p>
          <a:p>
            <a:pPr indent="-317500" lvl="0" marL="457200" rtl="0" algn="l">
              <a:spcBef>
                <a:spcPts val="1600"/>
              </a:spcBef>
              <a:spcAft>
                <a:spcPts val="0"/>
              </a:spcAft>
              <a:buSzPts val="1400"/>
              <a:buFont typeface="Arial"/>
              <a:buChar char="●"/>
            </a:pPr>
            <a:r>
              <a:rPr lang="en" sz="1400">
                <a:latin typeface="Arial"/>
                <a:ea typeface="Arial"/>
                <a:cs typeface="Arial"/>
                <a:sym typeface="Arial"/>
              </a:rPr>
              <a:t>Insufficient information: Draws conclusions based on insufficient information.</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Wrong assumption: Assumes conditions which leads to wrong conclusion.</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Contradiction: Draws Conclusion that contradicts a previous premise</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Misinterpretation: Misinterpretation of passage, options or previously concluded steps in premise[prominent for passage based problems].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Hallucination: Considers out of context information leading to wrong conclusion.</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Wrong Reasoning: Gives wrong conclusion irrespective of premise[prominent for clue and arrangement based problems].</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sz="1400">
                <a:latin typeface="Arial"/>
                <a:ea typeface="Arial"/>
                <a:cs typeface="Arial"/>
                <a:sym typeface="Arial"/>
              </a:rPr>
              <a:t>Error propagation: Conclusion drawn from wrong premise.</a:t>
            </a:r>
            <a:endParaRPr sz="1400">
              <a:latin typeface="Arial"/>
              <a:ea typeface="Arial"/>
              <a:cs typeface="Arial"/>
              <a:sym typeface="Arial"/>
            </a:endParaRPr>
          </a:p>
          <a:p>
            <a:pPr indent="0" lvl="0" marL="457200" rtl="0" algn="l">
              <a:spcBef>
                <a:spcPts val="1600"/>
              </a:spcBef>
              <a:spcAft>
                <a:spcPts val="0"/>
              </a:spcAft>
              <a:buNone/>
            </a:pPr>
            <a:r>
              <a:t/>
            </a:r>
            <a:endParaRPr sz="1400">
              <a:latin typeface="Arial"/>
              <a:ea typeface="Arial"/>
              <a:cs typeface="Arial"/>
              <a:sym typeface="Arial"/>
            </a:endParaRPr>
          </a:p>
          <a:p>
            <a:pPr indent="0" lvl="0" marL="0" rtl="0" algn="l">
              <a:spcBef>
                <a:spcPts val="1600"/>
              </a:spcBef>
              <a:spcAft>
                <a:spcPts val="0"/>
              </a:spcAft>
              <a:buNone/>
            </a:pPr>
            <a:r>
              <a:t/>
            </a:r>
            <a:endParaRPr sz="1400">
              <a:latin typeface="Arial"/>
              <a:ea typeface="Arial"/>
              <a:cs typeface="Arial"/>
              <a:sym typeface="Arial"/>
            </a:endParaRPr>
          </a:p>
          <a:p>
            <a:pPr indent="0" lvl="0" marL="0" rtl="0" algn="l">
              <a:spcBef>
                <a:spcPts val="1600"/>
              </a:spcBef>
              <a:spcAft>
                <a:spcPts val="1600"/>
              </a:spcAft>
              <a:buNone/>
            </a:pPr>
            <a:r>
              <a:t/>
            </a:r>
            <a:endParaRPr sz="14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Chain Example with Error Taxonomies</a:t>
            </a:r>
            <a:endParaRPr/>
          </a:p>
        </p:txBody>
      </p:sp>
      <p:pic>
        <p:nvPicPr>
          <p:cNvPr id="162" name="Google Shape;162;p27"/>
          <p:cNvPicPr preferRelativeResize="0"/>
          <p:nvPr/>
        </p:nvPicPr>
        <p:blipFill>
          <a:blip r:embed="rId3">
            <a:alphaModFix/>
          </a:blip>
          <a:stretch>
            <a:fillRect/>
          </a:stretch>
        </p:blipFill>
        <p:spPr>
          <a:xfrm>
            <a:off x="423525" y="1859888"/>
            <a:ext cx="4097626" cy="2199600"/>
          </a:xfrm>
          <a:prstGeom prst="rect">
            <a:avLst/>
          </a:prstGeom>
          <a:noFill/>
          <a:ln>
            <a:noFill/>
          </a:ln>
        </p:spPr>
      </p:pic>
      <p:pic>
        <p:nvPicPr>
          <p:cNvPr id="163" name="Google Shape;163;p27"/>
          <p:cNvPicPr preferRelativeResize="0"/>
          <p:nvPr/>
        </p:nvPicPr>
        <p:blipFill>
          <a:blip r:embed="rId4">
            <a:alphaModFix/>
          </a:blip>
          <a:stretch>
            <a:fillRect/>
          </a:stretch>
        </p:blipFill>
        <p:spPr>
          <a:xfrm>
            <a:off x="5011225" y="1144125"/>
            <a:ext cx="3430400" cy="38501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Auto Evaluator </a:t>
            </a:r>
            <a:endParaRPr/>
          </a:p>
        </p:txBody>
      </p:sp>
      <p:sp>
        <p:nvSpPr>
          <p:cNvPr id="169" name="Google Shape;169;p28"/>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a:t>
            </a:r>
            <a:r>
              <a:rPr lang="en"/>
              <a:t> Auto Evaluator is a LLM-based tool designed to assess and classify reasoning chains produced by other LLMs. </a:t>
            </a:r>
            <a:endParaRPr/>
          </a:p>
          <a:p>
            <a:pPr indent="0" lvl="0" marL="0" rtl="0" algn="l">
              <a:spcBef>
                <a:spcPts val="1600"/>
              </a:spcBef>
              <a:spcAft>
                <a:spcPts val="1600"/>
              </a:spcAft>
              <a:buNone/>
            </a:pPr>
            <a:r>
              <a:rPr lang="en"/>
              <a:t>It leverages error taxonomies and few-shot prompting to identify and correct logical errors, enabling automated and consistent evaluation of reasoning quality.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to Auto-Evaluator</a:t>
            </a:r>
            <a:endParaRPr/>
          </a:p>
        </p:txBody>
      </p:sp>
      <p:sp>
        <p:nvSpPr>
          <p:cNvPr id="175" name="Google Shape;175;p29"/>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Arial"/>
                <a:ea typeface="Arial"/>
                <a:cs typeface="Arial"/>
                <a:sym typeface="Arial"/>
              </a:rPr>
              <a:t>Zero-shot and one-shot prompting struggled due to excessively long prompts that included all error taxonomies, examples, questions, and options. These prompts often exceeded processing limits, preventing the model from breaking reasoning chains into manageable lines. As a result, the model frequently generated incorrect or incomplete answers, undermining its effectiveness.</a:t>
            </a:r>
            <a:endParaRPr sz="1500">
              <a:latin typeface="Arial"/>
              <a:ea typeface="Arial"/>
              <a:cs typeface="Arial"/>
              <a:sym typeface="Arial"/>
            </a:endParaRPr>
          </a:p>
          <a:p>
            <a:pPr indent="0" lvl="0" marL="0" rtl="0" algn="l">
              <a:spcBef>
                <a:spcPts val="1600"/>
              </a:spcBef>
              <a:spcAft>
                <a:spcPts val="0"/>
              </a:spcAft>
              <a:buNone/>
            </a:pPr>
            <a:r>
              <a:rPr lang="en" sz="1500">
                <a:latin typeface="Arial"/>
                <a:ea typeface="Arial"/>
                <a:cs typeface="Arial"/>
                <a:sym typeface="Arial"/>
              </a:rPr>
              <a:t>Custom GPTs addressed these limitations by structuring error analysis more effectively within processing constraints. By segmenting and organizing the information, they enabled precise reasoning without overloading the prompt. This approach ensured accurate and coherent responses, improving overall analysis and usability.</a:t>
            </a:r>
            <a:endParaRPr sz="1500">
              <a:latin typeface="Arial"/>
              <a:ea typeface="Arial"/>
              <a:cs typeface="Arial"/>
              <a:sym typeface="Arial"/>
            </a:endParaRPr>
          </a:p>
          <a:p>
            <a:pPr indent="0" lvl="0" marL="0" rtl="0" algn="l">
              <a:spcBef>
                <a:spcPts val="1600"/>
              </a:spcBef>
              <a:spcAft>
                <a:spcPts val="0"/>
              </a:spcAft>
              <a:buNone/>
            </a:pPr>
            <a:r>
              <a:t/>
            </a:r>
            <a:endParaRPr sz="1500">
              <a:latin typeface="Arial"/>
              <a:ea typeface="Arial"/>
              <a:cs typeface="Arial"/>
              <a:sym typeface="Arial"/>
            </a:endParaRPr>
          </a:p>
          <a:p>
            <a:pPr indent="0" lvl="0" marL="0" rtl="0" algn="l">
              <a:spcBef>
                <a:spcPts val="1600"/>
              </a:spcBef>
              <a:spcAft>
                <a:spcPts val="0"/>
              </a:spcAft>
              <a:buNone/>
            </a:pPr>
            <a:r>
              <a:t/>
            </a:r>
            <a:endParaRPr sz="1500">
              <a:latin typeface="Arial"/>
              <a:ea typeface="Arial"/>
              <a:cs typeface="Arial"/>
              <a:sym typeface="Arial"/>
            </a:endParaRPr>
          </a:p>
          <a:p>
            <a:pPr indent="0" lvl="0" marL="0" rtl="0" algn="l">
              <a:spcBef>
                <a:spcPts val="1600"/>
              </a:spcBef>
              <a:spcAft>
                <a:spcPts val="0"/>
              </a:spcAft>
              <a:buNone/>
            </a:pPr>
            <a:r>
              <a:t/>
            </a:r>
            <a:endParaRPr sz="1500">
              <a:latin typeface="Arial"/>
              <a:ea typeface="Arial"/>
              <a:cs typeface="Arial"/>
              <a:sym typeface="Arial"/>
            </a:endParaRPr>
          </a:p>
          <a:p>
            <a:pPr indent="0" lvl="0" marL="0" rtl="0" algn="l">
              <a:spcBef>
                <a:spcPts val="1600"/>
              </a:spcBef>
              <a:spcAft>
                <a:spcPts val="0"/>
              </a:spcAft>
              <a:buNone/>
            </a:pPr>
            <a:r>
              <a:t/>
            </a:r>
            <a:endParaRPr sz="1500">
              <a:latin typeface="Arial"/>
              <a:ea typeface="Arial"/>
              <a:cs typeface="Arial"/>
              <a:sym typeface="Arial"/>
            </a:endParaRPr>
          </a:p>
          <a:p>
            <a:pPr indent="0" lvl="0" marL="0" rtl="0" algn="l">
              <a:spcBef>
                <a:spcPts val="1600"/>
              </a:spcBef>
              <a:spcAft>
                <a:spcPts val="0"/>
              </a:spcAft>
              <a:buNone/>
            </a:pPr>
            <a:r>
              <a:t/>
            </a:r>
            <a:endParaRPr sz="1500">
              <a:latin typeface="Arial"/>
              <a:ea typeface="Arial"/>
              <a:cs typeface="Arial"/>
              <a:sym typeface="Arial"/>
            </a:endParaRPr>
          </a:p>
          <a:p>
            <a:pPr indent="0" lvl="0" marL="0" rtl="0" algn="l">
              <a:spcBef>
                <a:spcPts val="1600"/>
              </a:spcBef>
              <a:spcAft>
                <a:spcPts val="0"/>
              </a:spcAft>
              <a:buNone/>
            </a:pPr>
            <a:r>
              <a:t/>
            </a:r>
            <a:endParaRPr sz="1500">
              <a:latin typeface="Arial"/>
              <a:ea typeface="Arial"/>
              <a:cs typeface="Arial"/>
              <a:sym typeface="Arial"/>
            </a:endParaRPr>
          </a:p>
          <a:p>
            <a:pPr indent="0" lvl="0" marL="0" rtl="0" algn="l">
              <a:spcBef>
                <a:spcPts val="1600"/>
              </a:spcBef>
              <a:spcAft>
                <a:spcPts val="1600"/>
              </a:spcAft>
              <a:buNone/>
            </a:pPr>
            <a:r>
              <a:t/>
            </a:r>
            <a:endParaRPr sz="15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Approach to Auto-Evaluator</a:t>
            </a:r>
            <a:endParaRPr/>
          </a:p>
        </p:txBody>
      </p:sp>
      <p:sp>
        <p:nvSpPr>
          <p:cNvPr id="181" name="Google Shape;181;p30"/>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Arial"/>
                <a:ea typeface="Arial"/>
                <a:cs typeface="Arial"/>
                <a:sym typeface="Arial"/>
              </a:rPr>
              <a:t>We broke the approach into two steps:</a:t>
            </a:r>
            <a:endParaRPr sz="1300">
              <a:latin typeface="Arial"/>
              <a:ea typeface="Arial"/>
              <a:cs typeface="Arial"/>
              <a:sym typeface="Arial"/>
            </a:endParaRPr>
          </a:p>
          <a:p>
            <a:pPr indent="-311150" lvl="0" marL="457200" rtl="0" algn="l">
              <a:spcBef>
                <a:spcPts val="1600"/>
              </a:spcBef>
              <a:spcAft>
                <a:spcPts val="0"/>
              </a:spcAft>
              <a:buSzPts val="1300"/>
              <a:buFont typeface="Arial"/>
              <a:buAutoNum type="arabicPeriod"/>
            </a:pPr>
            <a:r>
              <a:rPr lang="en" sz="1300">
                <a:latin typeface="Arial"/>
                <a:ea typeface="Arial"/>
                <a:cs typeface="Arial"/>
                <a:sym typeface="Arial"/>
              </a:rPr>
              <a:t>Developed Custom GPT by fine-tuning an LLM to accurately split reasoning chains step-by-step without hallucinating or misinterpreting commands. This ensures it only processes and analyzes text explicitly present in the input reasoning chains. The refined instruction set is saved for consistent use. Main aim of this step was to create a Instruction Set where model splits the reasoning chains line by line without hallucinating.</a:t>
            </a:r>
            <a:br>
              <a:rPr lang="en" sz="1300">
                <a:latin typeface="Arial"/>
                <a:ea typeface="Arial"/>
                <a:cs typeface="Arial"/>
                <a:sym typeface="Arial"/>
              </a:rPr>
            </a:br>
            <a:endParaRPr sz="1300">
              <a:latin typeface="Arial"/>
              <a:ea typeface="Arial"/>
              <a:cs typeface="Arial"/>
              <a:sym typeface="Arial"/>
            </a:endParaRPr>
          </a:p>
          <a:p>
            <a:pPr indent="-311150" lvl="0" marL="457200" rtl="0" algn="l">
              <a:spcBef>
                <a:spcPts val="0"/>
              </a:spcBef>
              <a:spcAft>
                <a:spcPts val="0"/>
              </a:spcAft>
              <a:buSzPts val="1300"/>
              <a:buFont typeface="Arial"/>
              <a:buAutoNum type="arabicPeriod"/>
            </a:pPr>
            <a:r>
              <a:rPr lang="en" sz="1300">
                <a:latin typeface="Arial"/>
                <a:ea typeface="Arial"/>
                <a:cs typeface="Arial"/>
                <a:sym typeface="Arial"/>
              </a:rPr>
              <a:t>Integrated the error taxonomy into existing CustomGPT by instructing it to assign one label (e.g., NC, RR, RW, WR, WW) to each reasoning chain. To guide the process, we provide an example of a manually evaluated and labeled reasoning chain, demonstrating the expected output format. This ensures the model understands the classification criteria and applies the taxonomy consistently. Custom GPT can then analyze and label reasoning chains efficiently using the provided structure.</a:t>
            </a:r>
            <a:endParaRPr sz="1300">
              <a:latin typeface="Arial"/>
              <a:ea typeface="Arial"/>
              <a:cs typeface="Arial"/>
              <a:sym typeface="Arial"/>
            </a:endParaRPr>
          </a:p>
          <a:p>
            <a:pPr indent="0" lvl="0" marL="0" rtl="0" algn="l">
              <a:spcBef>
                <a:spcPts val="1600"/>
              </a:spcBef>
              <a:spcAft>
                <a:spcPts val="1600"/>
              </a:spcAft>
              <a:buNone/>
            </a:pPr>
            <a:r>
              <a:t/>
            </a:r>
            <a:endParaRPr sz="13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Auto-Evaluator Results</a:t>
            </a:r>
            <a:endParaRPr/>
          </a:p>
        </p:txBody>
      </p:sp>
      <p:sp>
        <p:nvSpPr>
          <p:cNvPr id="187" name="Google Shape;187;p31"/>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sz="1300">
              <a:latin typeface="Arial"/>
              <a:ea typeface="Arial"/>
              <a:cs typeface="Arial"/>
              <a:sym typeface="Arial"/>
            </a:endParaRPr>
          </a:p>
        </p:txBody>
      </p:sp>
      <p:graphicFrame>
        <p:nvGraphicFramePr>
          <p:cNvPr id="188" name="Google Shape;188;p31"/>
          <p:cNvGraphicFramePr/>
          <p:nvPr/>
        </p:nvGraphicFramePr>
        <p:xfrm>
          <a:off x="952500" y="2190750"/>
          <a:ext cx="3000000" cy="3000000"/>
        </p:xfrm>
        <a:graphic>
          <a:graphicData uri="http://schemas.openxmlformats.org/drawingml/2006/table">
            <a:tbl>
              <a:tblPr>
                <a:noFill/>
                <a:tableStyleId>{9045C6B7-3EDB-4237-B5B4-EBFD8D53FF5C}</a:tableStyleId>
              </a:tblPr>
              <a:tblGrid>
                <a:gridCol w="3619500"/>
                <a:gridCol w="3619500"/>
              </a:tblGrid>
              <a:tr h="381000">
                <a:tc>
                  <a:txBody>
                    <a:bodyPr/>
                    <a:lstStyle/>
                    <a:p>
                      <a:pPr indent="0" lvl="0" marL="0" rtl="0" algn="l">
                        <a:spcBef>
                          <a:spcPts val="0"/>
                        </a:spcBef>
                        <a:spcAft>
                          <a:spcPts val="0"/>
                        </a:spcAft>
                        <a:buNone/>
                      </a:pPr>
                      <a:r>
                        <a:t/>
                      </a:r>
                      <a:endParaRPr>
                        <a:solidFill>
                          <a:schemeClr val="dk1"/>
                        </a:solidFill>
                      </a:endParaRPr>
                    </a:p>
                  </a:txBody>
                  <a:tcPr marT="91425" marB="91425" marR="91425" marL="9142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Accuracy (in %)</a:t>
                      </a:r>
                      <a:endParaRPr>
                        <a:solidFill>
                          <a:schemeClr val="dk1"/>
                        </a:solidFill>
                      </a:endParaRPr>
                    </a:p>
                  </a:txBody>
                  <a:tcPr marT="91425" marB="91425" marR="91425" marL="9142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Broad Category</a:t>
                      </a:r>
                      <a:endParaRPr>
                        <a:solidFill>
                          <a:schemeClr val="dk1"/>
                        </a:solidFill>
                      </a:endParaRPr>
                    </a:p>
                  </a:txBody>
                  <a:tcPr marT="91425" marB="91425" marR="91425" marL="9142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81.98</a:t>
                      </a:r>
                      <a:endParaRPr>
                        <a:solidFill>
                          <a:schemeClr val="dk1"/>
                        </a:solidFill>
                      </a:endParaRPr>
                    </a:p>
                  </a:txBody>
                  <a:tcPr marT="91425" marB="91425" marR="91425" marL="9142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Sub Category</a:t>
                      </a:r>
                      <a:endParaRPr>
                        <a:solidFill>
                          <a:schemeClr val="dk1"/>
                        </a:solidFill>
                      </a:endParaRPr>
                    </a:p>
                  </a:txBody>
                  <a:tcPr marT="91425" marB="91425" marR="91425" marL="9142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56.79</a:t>
                      </a:r>
                      <a:endParaRPr>
                        <a:solidFill>
                          <a:schemeClr val="dk1"/>
                        </a:solidFill>
                      </a:endParaRPr>
                    </a:p>
                  </a:txBody>
                  <a:tcPr marT="91425" marB="91425" marR="91425" marL="91425">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2"/>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Future Work</a:t>
            </a:r>
            <a:endParaRPr/>
          </a:p>
        </p:txBody>
      </p:sp>
      <p:sp>
        <p:nvSpPr>
          <p:cNvPr id="194" name="Google Shape;194;p32"/>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Tune the error taxonomies on similar reasoning datasets to develop a global and more universally applicable taxonomy.</a:t>
            </a:r>
            <a:endParaRPr/>
          </a:p>
          <a:p>
            <a:pPr indent="-342900" lvl="0" marL="457200" rtl="0" algn="l">
              <a:spcBef>
                <a:spcPts val="0"/>
              </a:spcBef>
              <a:spcAft>
                <a:spcPts val="0"/>
              </a:spcAft>
              <a:buSzPts val="1800"/>
              <a:buAutoNum type="arabicPeriod"/>
            </a:pPr>
            <a:r>
              <a:rPr lang="en"/>
              <a:t>Evaluate the performance of the auto evaluator across diverse datasets and refine its instructions for better generalization.</a:t>
            </a:r>
            <a:endParaRPr/>
          </a:p>
          <a:p>
            <a:pPr indent="-342900" lvl="0" marL="457200" rtl="0" algn="l">
              <a:spcBef>
                <a:spcPts val="0"/>
              </a:spcBef>
              <a:spcAft>
                <a:spcPts val="0"/>
              </a:spcAft>
              <a:buSzPts val="1800"/>
              <a:buAutoNum type="arabicPeriod"/>
            </a:pPr>
            <a:r>
              <a:rPr lang="en"/>
              <a:t>Explore the use of human-in-the-loop approaches to enhance error labeling accuracy in complex cases.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200" name="Google Shape;200;p33"/>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AutoNum type="arabicPeriod"/>
            </a:pPr>
            <a:r>
              <a:rPr lang="en" sz="1700"/>
              <a:t>Liu, Jian, et al. "Logiqa: A challenge dataset for machine reading comprehension with logical reasoning." arXiv preprint arXiv:2007.08124 (2020).</a:t>
            </a:r>
            <a:br>
              <a:rPr lang="en" sz="1700"/>
            </a:br>
            <a:endParaRPr sz="1700"/>
          </a:p>
          <a:p>
            <a:pPr indent="-336550" lvl="0" marL="457200" rtl="0" algn="l">
              <a:spcBef>
                <a:spcPts val="0"/>
              </a:spcBef>
              <a:spcAft>
                <a:spcPts val="0"/>
              </a:spcAft>
              <a:buSzPts val="1700"/>
              <a:buAutoNum type="arabicPeriod"/>
            </a:pPr>
            <a:r>
              <a:rPr lang="en" sz="1700"/>
              <a:t>Habernal, Ivan, et al. "The argument reasoning comprehension task: Identification and reconstruction of implicit warrants." arXiv preprint arXiv:1708.01425 (2017).</a:t>
            </a:r>
            <a:br>
              <a:rPr lang="en" sz="1700"/>
            </a:br>
            <a:endParaRPr sz="1700"/>
          </a:p>
          <a:p>
            <a:pPr indent="-336550" lvl="0" marL="457200" rtl="0" algn="l">
              <a:spcBef>
                <a:spcPts val="0"/>
              </a:spcBef>
              <a:spcAft>
                <a:spcPts val="0"/>
              </a:spcAft>
              <a:buSzPts val="1700"/>
              <a:buAutoNum type="arabicPeriod"/>
            </a:pPr>
            <a:r>
              <a:rPr lang="en" sz="1700"/>
              <a:t>Tyagi, Nemika, et al. "Step-by-Step Reasoning to Solve Grid Puzzles: Where do LLMs Falter?." arXiv preprint arXiv:2407.14790 (2024).</a:t>
            </a:r>
            <a:endParaRPr sz="17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Any Questions?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5"/>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